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6" r:id="rId3"/>
    <p:sldId id="260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/>
    <p:restoredTop sz="94409"/>
  </p:normalViewPr>
  <p:slideViewPr>
    <p:cSldViewPr snapToGrid="0">
      <p:cViewPr>
        <p:scale>
          <a:sx n="125" d="100"/>
          <a:sy n="125" d="100"/>
        </p:scale>
        <p:origin x="44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25B59-3FD2-2645-96A7-F167557C8A74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13463-1CA9-E74D-BDEB-A58D935CFB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628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13463-1CA9-E74D-BDEB-A58D935CFB25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6447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80C97-9391-3F60-24FB-2ABF54FAF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C2460D-D46F-7793-2E43-EE803D5CC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1F27E4-565F-A65C-D515-FF6D516DF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56A78C-F7C5-6A0B-7747-E194FB12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00236-AFE1-4EF3-A6FC-AB6FEDE8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444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D46A0-7EE4-96DC-E27B-D94622F1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F72CA-EC43-C003-139B-B2CEFE757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80B207-088F-1BD1-C496-8994BA17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8AF694-2AEE-4381-56C6-320DE414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C7F67C-1439-B752-F967-7F881A41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63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51C4C-2889-96DE-5200-D20C002FB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0AD84F-8780-8972-73A4-2779BE40A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7E8B91-04AF-CF9F-37CC-9324BE63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4557EC-9EC4-59E6-F18B-68326FD74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807FE1-8150-3E51-EB6F-9B0B91B6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5550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41341-C41E-60D2-8C25-1912ECB7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A7023F-D07B-8AE8-06F2-D51E5D935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44AEBF-B3E7-23D1-09C2-D85E13B7B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A15CF7-4CBC-0E41-1D56-131FFE87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0011F3-6A66-E247-109B-A703198D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5E8D6D-8EB9-0BF8-44F5-F543AE95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285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D2BAB-5033-9962-7B2F-ADDF34F3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CB2870-274C-CAAD-1554-59C8AFD48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07B6DD-27C4-A9E8-A7E2-2CFF28BEE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E473FA-E1C6-8502-D31F-43765524A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5BFCB4-6032-A479-2DEA-8426B1037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8DCD05-BF22-6C0E-5042-2E0C26BD5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4681E5-C38E-8E20-2B43-591749B93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826526-0987-E7CE-814E-4CE78B9B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556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3382F-A1DC-E0C4-624E-785F3900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8DEF9A-569D-DE41-02E1-290FDFFC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FBC71E-8F0E-B40A-7BF0-35429397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1D6969-013F-B2AC-51AD-B33D119B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517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3B8CAA-E2BE-8566-4D2D-8C79762A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E01E55-F3CC-E3ED-2E96-BD8334E3B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9CB99-997A-4D79-70D5-86C14FCD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21525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F0865-66FE-B062-4F4E-EB43FBDAD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23B22-E9F3-1B8D-3184-0D5C1F0C0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4CB921-57F6-5BD1-B8AF-BC46BDC7C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814AF6-0D82-5AEE-B9E2-215DFAAF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0025E6-6329-B179-9B19-25327F40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CACDDB-1816-B4F9-63A4-89CF2882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042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ADF64-3DE6-9B3A-5A00-5A225704B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C81B0B-B562-30A6-D031-B2626B2DB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3A933F-9B9B-5B68-5F85-E29874F6B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3FAA4F-D3FB-D233-8F5B-D7039CDC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19A4E3-8F03-C386-D6E2-47D2909F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6D2428-6A71-4662-65C6-5FA3267A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45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A3B4BD-6177-73F8-0E1D-7714F5F85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8B8365-9B7C-88C9-6468-FC10D249E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36C2CB-B5AA-BF0C-0F3E-049042BC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93165C-FEEA-7364-EB1F-5F865AE3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52E32C-6CD4-9297-CB2B-79A2B003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956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7C870C-AF2F-8E55-AF6F-92A63B6EA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9F1510-295B-E102-275B-62F72C4D7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D8B01D-D629-7E1F-9C8B-420668A7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E25FE6-BD65-56D8-4077-B4C72094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5DC864-5474-E49F-2ECD-DDC24309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9420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29C26E-DFD3-C081-0971-C5CA7435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5F74F2-81D6-69A0-DB67-7F3722EA0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714A9E-99E9-B35A-9548-87B4A8C4D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A05F7-3735-584B-A7F1-AC0E77537113}" type="datetimeFigureOut">
              <a:rPr kumimoji="1" lang="ko-KR" altLang="en-US" smtClean="0"/>
              <a:t>2026. 8. 9.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63C9A5-9E11-6EBE-1868-977C68696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A726EA-7A7A-41CC-9BD5-8AC7ED7E2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DF7F7-B415-F943-A143-F6666C5EFE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412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30B0B11-6EE9-A051-4FDA-0B381BAD1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312" y="103536"/>
            <a:ext cx="9495647" cy="54237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8A76981-3CB5-903F-24EC-10D07A11D04D}"/>
              </a:ext>
            </a:extLst>
          </p:cNvPr>
          <p:cNvSpPr/>
          <p:nvPr/>
        </p:nvSpPr>
        <p:spPr>
          <a:xfrm>
            <a:off x="1827312" y="1896510"/>
            <a:ext cx="7194866" cy="6242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310E4C-560B-3EE2-74D3-1646FE764680}"/>
              </a:ext>
            </a:extLst>
          </p:cNvPr>
          <p:cNvSpPr txBox="1"/>
          <p:nvPr/>
        </p:nvSpPr>
        <p:spPr>
          <a:xfrm>
            <a:off x="6508955" y="5742039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DS02</a:t>
            </a:r>
            <a:r>
              <a:rPr kumimoji="1" lang="en-US" altLang="zh-CN" dirty="0"/>
              <a:t>6</a:t>
            </a:r>
            <a:r>
              <a:rPr kumimoji="1" lang="en-US" altLang="ko-KR" dirty="0"/>
              <a:t> </a:t>
            </a:r>
            <a:r>
              <a:rPr kumimoji="1" lang="ko-KR" altLang="en-US" dirty="0" err="1"/>
              <a:t>数据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3.6</a:t>
            </a:r>
            <a:r>
              <a:rPr kumimoji="1" lang="zh-CN" altLang="en-US" dirty="0"/>
              <a:t>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127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C369194-92AB-BD47-6D43-12CC963BE0EC}"/>
              </a:ext>
            </a:extLst>
          </p:cNvPr>
          <p:cNvSpPr/>
          <p:nvPr/>
        </p:nvSpPr>
        <p:spPr>
          <a:xfrm>
            <a:off x="4113448" y="1961444"/>
            <a:ext cx="1223410" cy="2754551"/>
          </a:xfrm>
          <a:prstGeom prst="rect">
            <a:avLst/>
          </a:prstGeom>
          <a:solidFill>
            <a:srgbClr val="FFC000">
              <a:alpha val="4206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C227B4-86F8-FBCB-9C54-037CC2214440}"/>
              </a:ext>
            </a:extLst>
          </p:cNvPr>
          <p:cNvSpPr/>
          <p:nvPr/>
        </p:nvSpPr>
        <p:spPr>
          <a:xfrm>
            <a:off x="2586079" y="1973674"/>
            <a:ext cx="1266311" cy="2742321"/>
          </a:xfrm>
          <a:prstGeom prst="rect">
            <a:avLst/>
          </a:prstGeom>
          <a:solidFill>
            <a:srgbClr val="FFC000">
              <a:alpha val="4206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18FCBC-D662-C6D6-C35D-034535CEE703}"/>
              </a:ext>
            </a:extLst>
          </p:cNvPr>
          <p:cNvSpPr txBox="1"/>
          <p:nvPr/>
        </p:nvSpPr>
        <p:spPr>
          <a:xfrm>
            <a:off x="1380040" y="1457693"/>
            <a:ext cx="979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dirty="0">
                <a:latin typeface="Helvetica" pitchFamily="2" charset="0"/>
              </a:rPr>
              <a:t>Raw </a:t>
            </a:r>
            <a:r>
              <a:rPr kumimoji="1" lang="en-US" altLang="ko-KR" sz="800">
                <a:latin typeface="Helvetica" pitchFamily="2" charset="0"/>
              </a:rPr>
              <a:t>historical data</a:t>
            </a:r>
            <a:endParaRPr kumimoji="1" lang="ko-KR" altLang="en-US" sz="800" dirty="0">
              <a:latin typeface="Helvetica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0EECEA-225B-8D8E-E039-3FB616D61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306" y="1110387"/>
            <a:ext cx="970000" cy="5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A701E14-89F3-8BCF-A3A7-431B86625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306" y="1777392"/>
            <a:ext cx="970000" cy="5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ADD1AA59-79AB-2BB0-6C11-8DE5F48C41BF}"/>
              </a:ext>
            </a:extLst>
          </p:cNvPr>
          <p:cNvGrpSpPr/>
          <p:nvPr/>
        </p:nvGrpSpPr>
        <p:grpSpPr>
          <a:xfrm>
            <a:off x="1124009" y="2125334"/>
            <a:ext cx="287903" cy="836282"/>
            <a:chOff x="7233298" y="397176"/>
            <a:chExt cx="287903" cy="8362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29146AC-CFDE-7C02-6F7A-0A6BEADE70B1}"/>
                    </a:ext>
                  </a:extLst>
                </p:cNvPr>
                <p:cNvSpPr txBox="1"/>
                <p:nvPr/>
              </p:nvSpPr>
              <p:spPr>
                <a:xfrm>
                  <a:off x="7246946" y="397176"/>
                  <a:ext cx="196721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29146AC-CFDE-7C02-6F7A-0A6BEADE7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6946" y="397176"/>
                  <a:ext cx="196721" cy="169277"/>
                </a:xfrm>
                <a:prstGeom prst="rect">
                  <a:avLst/>
                </a:prstGeom>
                <a:blipFill>
                  <a:blip r:embed="rId4"/>
                  <a:stretch>
                    <a:fillRect l="-11765" b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8EB308F-00AF-BDB5-CD25-6B84DCF91A84}"/>
                    </a:ext>
                  </a:extLst>
                </p:cNvPr>
                <p:cNvSpPr txBox="1"/>
                <p:nvPr/>
              </p:nvSpPr>
              <p:spPr>
                <a:xfrm>
                  <a:off x="7233298" y="1064181"/>
                  <a:ext cx="256031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US" altLang="ko-KR" sz="11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1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8EB308F-00AF-BDB5-CD25-6B84DCF91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3298" y="1064181"/>
                  <a:ext cx="256031" cy="169277"/>
                </a:xfrm>
                <a:prstGeom prst="rect">
                  <a:avLst/>
                </a:prstGeom>
                <a:blipFill>
                  <a:blip r:embed="rId5"/>
                  <a:stretch>
                    <a:fillRect l="-9524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877613A-D20B-776F-D003-56D26C2880F0}"/>
                </a:ext>
              </a:extLst>
            </p:cNvPr>
            <p:cNvSpPr txBox="1"/>
            <p:nvPr/>
          </p:nvSpPr>
          <p:spPr>
            <a:xfrm rot="5400000">
              <a:off x="7207642" y="678478"/>
              <a:ext cx="3501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Helvetica" pitchFamily="2" charset="0"/>
                </a:rPr>
                <a:t>…</a:t>
              </a:r>
              <a:endParaRPr kumimoji="1" lang="ko-KR" altLang="en-US" sz="1050" dirty="0">
                <a:latin typeface="Helvetica" pitchFamily="2" charset="0"/>
              </a:endParaRP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6C4F4E8C-E5F7-2C23-5BF3-334FBF19D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284" y="4333148"/>
            <a:ext cx="970000" cy="5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7372FB7-ED0E-3E5B-A9B9-469523A800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6284" y="5000361"/>
            <a:ext cx="970000" cy="5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DFBFDEAE-7EE5-BC7D-DB31-4DFFC0D3F37C}"/>
              </a:ext>
            </a:extLst>
          </p:cNvPr>
          <p:cNvGrpSpPr/>
          <p:nvPr/>
        </p:nvGrpSpPr>
        <p:grpSpPr>
          <a:xfrm>
            <a:off x="1131205" y="3588636"/>
            <a:ext cx="286921" cy="744512"/>
            <a:chOff x="7212332" y="3694203"/>
            <a:chExt cx="286921" cy="744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3943EE1-6EA3-8008-6E56-22F5EFF74ABC}"/>
                    </a:ext>
                  </a:extLst>
                </p:cNvPr>
                <p:cNvSpPr txBox="1"/>
                <p:nvPr/>
              </p:nvSpPr>
              <p:spPr>
                <a:xfrm>
                  <a:off x="7218807" y="3694203"/>
                  <a:ext cx="214161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1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3943EE1-6EA3-8008-6E56-22F5EFF74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8807" y="3694203"/>
                  <a:ext cx="214161" cy="169277"/>
                </a:xfrm>
                <a:prstGeom prst="rect">
                  <a:avLst/>
                </a:prstGeom>
                <a:blipFill>
                  <a:blip r:embed="rId8"/>
                  <a:stretch>
                    <a:fillRect l="-5556" b="-1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899828B-F0E9-A2A6-B5F9-276A2B6862B9}"/>
                    </a:ext>
                  </a:extLst>
                </p:cNvPr>
                <p:cNvSpPr txBox="1"/>
                <p:nvPr/>
              </p:nvSpPr>
              <p:spPr>
                <a:xfrm>
                  <a:off x="7212332" y="4269438"/>
                  <a:ext cx="211917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ko-KR" sz="11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1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899828B-F0E9-A2A6-B5F9-276A2B6862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2332" y="4269438"/>
                  <a:ext cx="211917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5882" r="-5882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E3A25D9-1A43-162C-84E5-F60B9373CC61}"/>
                </a:ext>
              </a:extLst>
            </p:cNvPr>
            <p:cNvSpPr txBox="1"/>
            <p:nvPr/>
          </p:nvSpPr>
          <p:spPr>
            <a:xfrm rot="5400000">
              <a:off x="7090754" y="3936057"/>
              <a:ext cx="54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Helvetica" pitchFamily="2" charset="0"/>
                </a:rPr>
                <a:t>…</a:t>
              </a:r>
              <a:endParaRPr kumimoji="1" lang="ko-KR" altLang="en-US" sz="1050" dirty="0">
                <a:latin typeface="Helvetica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A51D1C5-DCCE-A468-9B64-A98CA84CD046}"/>
              </a:ext>
            </a:extLst>
          </p:cNvPr>
          <p:cNvSpPr txBox="1"/>
          <p:nvPr/>
        </p:nvSpPr>
        <p:spPr>
          <a:xfrm rot="16200000">
            <a:off x="664060" y="2493267"/>
            <a:ext cx="8120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dirty="0">
                <a:latin typeface="Helvetica" pitchFamily="2" charset="0"/>
              </a:rPr>
              <a:t>Input data</a:t>
            </a:r>
            <a:endParaRPr kumimoji="1" lang="ko-KR" altLang="en-US" sz="800" dirty="0">
              <a:latin typeface="Helvetica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71CED3-A11D-9CA8-D6C7-3ABA762CD731}"/>
              </a:ext>
            </a:extLst>
          </p:cNvPr>
          <p:cNvSpPr txBox="1"/>
          <p:nvPr/>
        </p:nvSpPr>
        <p:spPr>
          <a:xfrm rot="16200000">
            <a:off x="663473" y="3935965"/>
            <a:ext cx="8120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dirty="0">
                <a:latin typeface="Helvetica" pitchFamily="2" charset="0"/>
              </a:rPr>
              <a:t>Output data</a:t>
            </a:r>
            <a:endParaRPr kumimoji="1" lang="ko-KR" altLang="en-US" sz="800" dirty="0">
              <a:latin typeface="Helvetica" pitchFamily="2" charset="0"/>
            </a:endParaRPr>
          </a:p>
        </p:txBody>
      </p: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2880D673-4547-94B9-2568-498968CB34E4}"/>
              </a:ext>
            </a:extLst>
          </p:cNvPr>
          <p:cNvCxnSpPr>
            <a:cxnSpLocks/>
          </p:cNvCxnSpPr>
          <p:nvPr/>
        </p:nvCxnSpPr>
        <p:spPr>
          <a:xfrm>
            <a:off x="1672241" y="1825514"/>
            <a:ext cx="0" cy="302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C2C63D13-71CF-241C-F474-EB48860C90D3}"/>
              </a:ext>
            </a:extLst>
          </p:cNvPr>
          <p:cNvGrpSpPr/>
          <p:nvPr/>
        </p:nvGrpSpPr>
        <p:grpSpPr>
          <a:xfrm rot="16200000">
            <a:off x="2914263" y="1898176"/>
            <a:ext cx="620973" cy="1023067"/>
            <a:chOff x="2067637" y="1679622"/>
            <a:chExt cx="620973" cy="1023067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6DBFCF6-15CA-9B6A-290C-C3399A153453}"/>
                </a:ext>
              </a:extLst>
            </p:cNvPr>
            <p:cNvSpPr/>
            <p:nvPr/>
          </p:nvSpPr>
          <p:spPr>
            <a:xfrm>
              <a:off x="2067637" y="1679622"/>
              <a:ext cx="620973" cy="10167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F03A574-270C-52F1-DFE5-D93E863425A7}"/>
                </a:ext>
              </a:extLst>
            </p:cNvPr>
            <p:cNvSpPr txBox="1"/>
            <p:nvPr/>
          </p:nvSpPr>
          <p:spPr>
            <a:xfrm rot="5400000">
              <a:off x="1864671" y="1901949"/>
              <a:ext cx="10167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Gaussian Process</a:t>
              </a:r>
            </a:p>
            <a:p>
              <a:pPr algn="ctr"/>
              <a:r>
                <a:rPr kumimoji="1" lang="en-US" altLang="ko-KR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(trained on normal)</a:t>
              </a:r>
              <a:endParaRPr kumimoji="1" lang="ko-KR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FE63D70A-F5AA-7AFB-E22A-FE6191E6E9EB}"/>
              </a:ext>
            </a:extLst>
          </p:cNvPr>
          <p:cNvGrpSpPr/>
          <p:nvPr/>
        </p:nvGrpSpPr>
        <p:grpSpPr>
          <a:xfrm>
            <a:off x="1411143" y="3422042"/>
            <a:ext cx="970000" cy="1257013"/>
            <a:chOff x="2728884" y="928832"/>
            <a:chExt cx="970000" cy="1257013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A9708001-AF86-17DD-75D4-09953ECA9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728884" y="928832"/>
              <a:ext cx="970000" cy="54000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9FAAED7C-47DD-AC24-4E47-E446E0682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28884" y="1645845"/>
              <a:ext cx="970000" cy="54000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C805616E-1DF0-47DD-AA66-206C773E1DDB}"/>
              </a:ext>
            </a:extLst>
          </p:cNvPr>
          <p:cNvGrpSpPr/>
          <p:nvPr/>
        </p:nvGrpSpPr>
        <p:grpSpPr>
          <a:xfrm>
            <a:off x="1411143" y="1972986"/>
            <a:ext cx="970000" cy="1201104"/>
            <a:chOff x="2728884" y="2302965"/>
            <a:chExt cx="970000" cy="1201104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7AA8890C-BF70-DDD1-FBB2-5053C60B9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28884" y="2302965"/>
              <a:ext cx="970000" cy="54000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3E5FA0B-9F35-0257-71B0-707F349CD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728884" y="2964069"/>
              <a:ext cx="970000" cy="54000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pic>
        <p:nvPicPr>
          <p:cNvPr id="110" name="그림 109">
            <a:extLst>
              <a:ext uri="{FF2B5EF4-FFF2-40B4-BE49-F238E27FC236}">
                <a16:creationId xmlns:a16="http://schemas.microsoft.com/office/drawing/2014/main" id="{D5A01532-0E1A-0B6B-B844-E8D6BD057F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036" y="2022947"/>
            <a:ext cx="970000" cy="5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F090B0CC-1CF7-E2B6-3B26-EA3311A3993C}"/>
              </a:ext>
            </a:extLst>
          </p:cNvPr>
          <p:cNvSpPr txBox="1"/>
          <p:nvPr/>
        </p:nvSpPr>
        <p:spPr>
          <a:xfrm>
            <a:off x="4980716" y="3447484"/>
            <a:ext cx="1147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Residuals = </a:t>
            </a:r>
          </a:p>
          <a:p>
            <a:pPr algn="ctr"/>
            <a:r>
              <a:rPr kumimoji="1" lang="en-US" altLang="ko-K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– Predicted</a:t>
            </a:r>
          </a:p>
          <a:p>
            <a:pPr algn="ctr"/>
            <a:r>
              <a:rPr kumimoji="1" lang="en-US" altLang="ko-KR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(on all ranges)</a:t>
            </a:r>
            <a:endParaRPr kumimoji="1" lang="ko-KR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아래쪽 화살표[D] 141">
            <a:extLst>
              <a:ext uri="{FF2B5EF4-FFF2-40B4-BE49-F238E27FC236}">
                <a16:creationId xmlns:a16="http://schemas.microsoft.com/office/drawing/2014/main" id="{5766A468-B875-17EB-62D3-8C169A4B4BB4}"/>
              </a:ext>
            </a:extLst>
          </p:cNvPr>
          <p:cNvSpPr/>
          <p:nvPr/>
        </p:nvSpPr>
        <p:spPr>
          <a:xfrm>
            <a:off x="5376138" y="3164832"/>
            <a:ext cx="349134" cy="163033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44" name="그림 143">
            <a:extLst>
              <a:ext uri="{FF2B5EF4-FFF2-40B4-BE49-F238E27FC236}">
                <a16:creationId xmlns:a16="http://schemas.microsoft.com/office/drawing/2014/main" id="{D920EC10-FAE8-20A6-8C1D-A128F0EAD5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50029" y="2600988"/>
            <a:ext cx="1906724" cy="106147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1" name="그림 150">
            <a:extLst>
              <a:ext uri="{FF2B5EF4-FFF2-40B4-BE49-F238E27FC236}">
                <a16:creationId xmlns:a16="http://schemas.microsoft.com/office/drawing/2014/main" id="{BAA47761-E4C8-25F8-C3CA-F7C0CB9453C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21328" y="4034255"/>
            <a:ext cx="970000" cy="5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A17D72F-35BA-B3DB-0FFA-417B8697D41C}"/>
              </a:ext>
            </a:extLst>
          </p:cNvPr>
          <p:cNvSpPr/>
          <p:nvPr/>
        </p:nvSpPr>
        <p:spPr>
          <a:xfrm rot="16200000">
            <a:off x="4414666" y="1903725"/>
            <a:ext cx="620973" cy="10167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F06BB15-0B63-FFFF-E313-5C4EB76954B6}"/>
                  </a:ext>
                </a:extLst>
              </p:cNvPr>
              <p:cNvSpPr txBox="1"/>
              <p:nvPr/>
            </p:nvSpPr>
            <p:spPr>
              <a:xfrm>
                <a:off x="6793909" y="1864233"/>
                <a:ext cx="220254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ko-KR" altLang="en-US" sz="9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sz="1050" dirty="0"/>
              </a:p>
            </p:txBody>
          </p:sp>
        </mc:Choice>
        <mc:Fallback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F06BB15-0B63-FFFF-E313-5C4EB7695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909" y="1864233"/>
                <a:ext cx="220254" cy="138499"/>
              </a:xfrm>
              <a:prstGeom prst="rect">
                <a:avLst/>
              </a:prstGeom>
              <a:blipFill>
                <a:blip r:embed="rId17"/>
                <a:stretch>
                  <a:fillRect l="-5263"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8" name="그림 177">
            <a:extLst>
              <a:ext uri="{FF2B5EF4-FFF2-40B4-BE49-F238E27FC236}">
                <a16:creationId xmlns:a16="http://schemas.microsoft.com/office/drawing/2014/main" id="{B0426634-8C59-FC0D-B270-01CCA3EFA58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24658" y="2693632"/>
            <a:ext cx="970000" cy="5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80" name="그림 179">
            <a:extLst>
              <a:ext uri="{FF2B5EF4-FFF2-40B4-BE49-F238E27FC236}">
                <a16:creationId xmlns:a16="http://schemas.microsoft.com/office/drawing/2014/main" id="{2453BED5-8E7F-FC67-BAA1-44B4E261C3E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24658" y="3358085"/>
            <a:ext cx="970000" cy="54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1A620EB6-FBB8-43DB-C189-BB4992DEF69D}"/>
                  </a:ext>
                </a:extLst>
              </p:cNvPr>
              <p:cNvSpPr txBox="1"/>
              <p:nvPr/>
            </p:nvSpPr>
            <p:spPr>
              <a:xfrm>
                <a:off x="6793909" y="2549791"/>
                <a:ext cx="220254" cy="1415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ko-KR" altLang="en-US" sz="9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sz="1050" dirty="0"/>
              </a:p>
            </p:txBody>
          </p:sp>
        </mc:Choice>
        <mc:Fallback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1A620EB6-FBB8-43DB-C189-BB4992DEF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909" y="2549791"/>
                <a:ext cx="220254" cy="141514"/>
              </a:xfrm>
              <a:prstGeom prst="rect">
                <a:avLst/>
              </a:prstGeom>
              <a:blipFill>
                <a:blip r:embed="rId20"/>
                <a:stretch>
                  <a:fillRect l="-5263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4FDE8A2E-4790-BB7C-A14A-286D95C8260B}"/>
                  </a:ext>
                </a:extLst>
              </p:cNvPr>
              <p:cNvSpPr txBox="1"/>
              <p:nvPr/>
            </p:nvSpPr>
            <p:spPr>
              <a:xfrm>
                <a:off x="6793909" y="3211621"/>
                <a:ext cx="220254" cy="1415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kumimoji="1" lang="ko-KR" altLang="en-US" sz="9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sz="1050" dirty="0"/>
              </a:p>
            </p:txBody>
          </p:sp>
        </mc:Choice>
        <mc:Fallback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4FDE8A2E-4790-BB7C-A14A-286D95C82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909" y="3211621"/>
                <a:ext cx="220254" cy="141514"/>
              </a:xfrm>
              <a:prstGeom prst="rect">
                <a:avLst/>
              </a:prstGeom>
              <a:blipFill>
                <a:blip r:embed="rId21"/>
                <a:stretch>
                  <a:fillRect l="-5263"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90701D46-C78F-ED07-F852-3826F6C58D44}"/>
                  </a:ext>
                </a:extLst>
              </p:cNvPr>
              <p:cNvSpPr txBox="1"/>
              <p:nvPr/>
            </p:nvSpPr>
            <p:spPr>
              <a:xfrm>
                <a:off x="6793909" y="3891249"/>
                <a:ext cx="220254" cy="1415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  <m:sup>
                          <m:r>
                            <a:rPr kumimoji="1" lang="ko-KR" altLang="en-US" sz="9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sz="1050" dirty="0"/>
              </a:p>
            </p:txBody>
          </p:sp>
        </mc:Choice>
        <mc:Fallback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90701D46-C78F-ED07-F852-3826F6C58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909" y="3891249"/>
                <a:ext cx="220254" cy="141514"/>
              </a:xfrm>
              <a:prstGeom prst="rect">
                <a:avLst/>
              </a:prstGeom>
              <a:blipFill>
                <a:blip r:embed="rId22"/>
                <a:stretch>
                  <a:fillRect l="-5263"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TextBox 184">
            <a:extLst>
              <a:ext uri="{FF2B5EF4-FFF2-40B4-BE49-F238E27FC236}">
                <a16:creationId xmlns:a16="http://schemas.microsoft.com/office/drawing/2014/main" id="{B3740FDA-D90C-06F6-09D3-45D6EDCB5BEA}"/>
              </a:ext>
            </a:extLst>
          </p:cNvPr>
          <p:cNvSpPr txBox="1"/>
          <p:nvPr/>
        </p:nvSpPr>
        <p:spPr>
          <a:xfrm>
            <a:off x="8353414" y="2194967"/>
            <a:ext cx="979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dirty="0">
                <a:latin typeface="Helvetica" pitchFamily="2" charset="0"/>
              </a:rPr>
              <a:t>Health Index </a:t>
            </a:r>
            <a:endParaRPr kumimoji="1" lang="en" altLang="ko-KR" sz="800" dirty="0">
              <a:solidFill>
                <a:srgbClr val="0A0A0A"/>
              </a:solidFill>
              <a:latin typeface="Anthropic Sans"/>
            </a:endParaRPr>
          </a:p>
          <a:p>
            <a:pPr algn="ctr"/>
            <a:r>
              <a:rPr lang="en" altLang="ko-KR" sz="800" b="0" i="0" dirty="0">
                <a:solidFill>
                  <a:srgbClr val="0A0A0A"/>
                </a:solidFill>
                <a:effectLst/>
                <a:latin typeface="Anthropic Sans"/>
              </a:rPr>
              <a:t> hₙ(c) ∈ [0,1]</a:t>
            </a:r>
            <a:r>
              <a:rPr kumimoji="1" lang="en-US" altLang="ko-KR" sz="800" dirty="0">
                <a:latin typeface="Helvetica" pitchFamily="2" charset="0"/>
              </a:rPr>
              <a:t> </a:t>
            </a:r>
            <a:endParaRPr kumimoji="1" lang="ko-KR" altLang="en-US" sz="800" dirty="0">
              <a:latin typeface="Helvetica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88B73DC5-F886-2378-747F-DBD4EC31A0A8}"/>
                  </a:ext>
                </a:extLst>
              </p:cNvPr>
              <p:cNvSpPr txBox="1"/>
              <p:nvPr/>
            </p:nvSpPr>
            <p:spPr>
              <a:xfrm>
                <a:off x="6397177" y="1566598"/>
                <a:ext cx="97946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>
                    <a:latin typeface="Helvetica" pitchFamily="2" charset="0"/>
                  </a:rPr>
                  <a:t>Residuals of</a:t>
                </a:r>
                <a:r>
                  <a:rPr kumimoji="1" lang="ko-KR" altLang="en-US" sz="800" dirty="0"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kumimoji="1" lang="ko-KR" altLang="en-US" sz="80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88B73DC5-F886-2378-747F-DBD4EC31A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177" y="1566598"/>
                <a:ext cx="979460" cy="215444"/>
              </a:xfrm>
              <a:prstGeom prst="rect">
                <a:avLst/>
              </a:prstGeom>
              <a:blipFill>
                <a:blip r:embed="rId2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71972C56-0AC5-84FF-73EF-0748A7D4CDC0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7389036" y="2292947"/>
            <a:ext cx="560993" cy="838779"/>
          </a:xfrm>
          <a:prstGeom prst="straightConnector1">
            <a:avLst/>
          </a:prstGeom>
          <a:ln cap="flat"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96F5779A-FC47-39A2-F917-90899AE19CF9}"/>
              </a:ext>
            </a:extLst>
          </p:cNvPr>
          <p:cNvCxnSpPr>
            <a:cxnSpLocks/>
            <a:stCxn id="178" idx="3"/>
            <a:endCxn id="144" idx="1"/>
          </p:cNvCxnSpPr>
          <p:nvPr/>
        </p:nvCxnSpPr>
        <p:spPr>
          <a:xfrm>
            <a:off x="7394658" y="2963632"/>
            <a:ext cx="555371" cy="168094"/>
          </a:xfrm>
          <a:prstGeom prst="straightConnector1">
            <a:avLst/>
          </a:prstGeom>
          <a:ln cap="flat"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42531857-44F5-6334-0F29-46090D7D32B9}"/>
              </a:ext>
            </a:extLst>
          </p:cNvPr>
          <p:cNvCxnSpPr>
            <a:cxnSpLocks/>
            <a:stCxn id="180" idx="3"/>
            <a:endCxn id="144" idx="1"/>
          </p:cNvCxnSpPr>
          <p:nvPr/>
        </p:nvCxnSpPr>
        <p:spPr>
          <a:xfrm flipV="1">
            <a:off x="7394658" y="3131726"/>
            <a:ext cx="555371" cy="496359"/>
          </a:xfrm>
          <a:prstGeom prst="straightConnector1">
            <a:avLst/>
          </a:prstGeom>
          <a:ln cap="flat"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EF276760-82E1-D9B1-D744-8CE387DEF637}"/>
              </a:ext>
            </a:extLst>
          </p:cNvPr>
          <p:cNvCxnSpPr>
            <a:cxnSpLocks/>
            <a:stCxn id="151" idx="3"/>
            <a:endCxn id="144" idx="1"/>
          </p:cNvCxnSpPr>
          <p:nvPr/>
        </p:nvCxnSpPr>
        <p:spPr>
          <a:xfrm flipV="1">
            <a:off x="7391328" y="3131726"/>
            <a:ext cx="558701" cy="1172529"/>
          </a:xfrm>
          <a:prstGeom prst="straightConnector1">
            <a:avLst/>
          </a:prstGeom>
          <a:ln cap="flat"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E6822F2-C033-4F6A-5638-77F7E2FCCC1B}"/>
                  </a:ext>
                </a:extLst>
              </p:cNvPr>
              <p:cNvSpPr txBox="1"/>
              <p:nvPr/>
            </p:nvSpPr>
            <p:spPr>
              <a:xfrm>
                <a:off x="5299791" y="4084017"/>
                <a:ext cx="455316" cy="237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∗∗</m:t>
                          </m:r>
                        </m:sup>
                      </m:sSubSup>
                      <m:r>
                        <a:rPr kumimoji="1" lang="en-US" altLang="ko-KR" sz="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ko-K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9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ko-KR" sz="9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ko-KR" sz="9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kumimoji="1" lang="ko-KR" altLang="en-US" sz="9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E6822F2-C033-4F6A-5638-77F7E2FCC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791" y="4084017"/>
                <a:ext cx="455316" cy="237181"/>
              </a:xfrm>
              <a:prstGeom prst="rect">
                <a:avLst/>
              </a:prstGeom>
              <a:blipFill>
                <a:blip r:embed="rId24"/>
                <a:stretch>
                  <a:fillRect l="-5405" b="-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44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309C5B7-383F-5B17-089B-7054ECD12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39" y="985603"/>
            <a:ext cx="11613321" cy="488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8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041891-237E-89B6-F5E4-13AB4B0A2AFB}"/>
              </a:ext>
            </a:extLst>
          </p:cNvPr>
          <p:cNvSpPr txBox="1"/>
          <p:nvPr/>
        </p:nvSpPr>
        <p:spPr>
          <a:xfrm>
            <a:off x="1524000" y="8113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0" i="0" dirty="0">
                <a:solidFill>
                  <a:srgbClr val="1A1A1A"/>
                </a:solidFill>
                <a:effectLst/>
                <a:latin typeface="Anthropic Mono"/>
              </a:rPr>
              <a:t>acc = (TP + TN) / (TP + FP + FN + TN)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136ADF-7ED4-EECB-6690-176C5161DB8D}"/>
              </a:ext>
            </a:extLst>
          </p:cNvPr>
          <p:cNvSpPr txBox="1"/>
          <p:nvPr/>
        </p:nvSpPr>
        <p:spPr>
          <a:xfrm>
            <a:off x="1524000" y="4176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1A1A1A"/>
                </a:solidFill>
                <a:latin typeface="Anthropic Mono"/>
              </a:rPr>
              <a:t>Failure moment predict score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B908237-EFB9-6DE9-316C-2BBEB0522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300968"/>
              </p:ext>
            </p:extLst>
          </p:nvPr>
        </p:nvGraphicFramePr>
        <p:xfrm>
          <a:off x="1766997" y="1411551"/>
          <a:ext cx="9542910" cy="4456404"/>
        </p:xfrm>
        <a:graphic>
          <a:graphicData uri="http://schemas.openxmlformats.org/drawingml/2006/table">
            <a:tbl>
              <a:tblPr/>
              <a:tblGrid>
                <a:gridCol w="3180970">
                  <a:extLst>
                    <a:ext uri="{9D8B030D-6E8A-4147-A177-3AD203B41FA5}">
                      <a16:colId xmlns:a16="http://schemas.microsoft.com/office/drawing/2014/main" val="3525273711"/>
                    </a:ext>
                  </a:extLst>
                </a:gridCol>
                <a:gridCol w="3180970">
                  <a:extLst>
                    <a:ext uri="{9D8B030D-6E8A-4147-A177-3AD203B41FA5}">
                      <a16:colId xmlns:a16="http://schemas.microsoft.com/office/drawing/2014/main" val="3891193519"/>
                    </a:ext>
                  </a:extLst>
                </a:gridCol>
                <a:gridCol w="3180970">
                  <a:extLst>
                    <a:ext uri="{9D8B030D-6E8A-4147-A177-3AD203B41FA5}">
                      <a16:colId xmlns:a16="http://schemas.microsoft.com/office/drawing/2014/main" val="17639252"/>
                    </a:ext>
                  </a:extLst>
                </a:gridCol>
              </a:tblGrid>
              <a:tr h="986532">
                <a:tc>
                  <a:txBody>
                    <a:bodyPr/>
                    <a:lstStyle/>
                    <a:p>
                      <a:pPr algn="l" fontAlgn="t"/>
                      <a:br>
                        <a:rPr lang="en" b="0" dirty="0">
                          <a:effectLst/>
                        </a:rPr>
                      </a:br>
                      <a:endParaRPr lang="ko-KR" altLang="en-US" b="0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b="0" dirty="0">
                          <a:effectLst/>
                        </a:rPr>
                        <a:t>New one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Previous one</a:t>
                      </a:r>
                      <a:endParaRPr lang="ko-KR" altLang="en-US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6037657"/>
                  </a:ext>
                </a:extLst>
              </a:tr>
              <a:tr h="578312">
                <a:tc>
                  <a:txBody>
                    <a:bodyPr/>
                    <a:lstStyle/>
                    <a:p>
                      <a:pPr algn="l" fontAlgn="t"/>
                      <a:r>
                        <a:rPr lang="en" dirty="0">
                          <a:effectLst/>
                        </a:rPr>
                        <a:t>acc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82.1%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81.9%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893937"/>
                  </a:ext>
                </a:extLst>
              </a:tr>
              <a:tr h="578312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Overall RUL</a:t>
                      </a:r>
                      <a:endParaRPr lang="ko-KR" altLang="en-US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b="0" dirty="0">
                          <a:effectLst/>
                        </a:rPr>
                        <a:t>8.76</a:t>
                      </a:r>
                      <a:endParaRPr lang="ko-KR" altLang="en-US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9.48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52297"/>
                  </a:ext>
                </a:extLst>
              </a:tr>
              <a:tr h="578312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20%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b="0" dirty="0">
                          <a:effectLst/>
                        </a:rPr>
                        <a:t>10.19</a:t>
                      </a:r>
                      <a:endParaRPr lang="ko-KR" altLang="en-US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12.01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483315"/>
                  </a:ext>
                </a:extLst>
              </a:tr>
              <a:tr h="578312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40%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b="0" dirty="0">
                          <a:effectLst/>
                        </a:rPr>
                        <a:t>6.79</a:t>
                      </a:r>
                      <a:endParaRPr lang="ko-KR" altLang="en-US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6.90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213101"/>
                  </a:ext>
                </a:extLst>
              </a:tr>
              <a:tr h="578312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>
                          <a:effectLst/>
                        </a:rPr>
                        <a:t>60%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b="0" dirty="0">
                          <a:effectLst/>
                        </a:rPr>
                        <a:t>9.63</a:t>
                      </a:r>
                      <a:endParaRPr lang="ko-KR" altLang="en-US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9.96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880045"/>
                  </a:ext>
                </a:extLst>
              </a:tr>
              <a:tr h="578312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>
                          <a:effectLst/>
                        </a:rPr>
                        <a:t>80%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b="0" dirty="0">
                          <a:effectLst/>
                        </a:rPr>
                        <a:t>8.01</a:t>
                      </a:r>
                      <a:endParaRPr lang="ko-KR" altLang="en-US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8.30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8892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1F1846F-CB1D-9F4C-2138-3610D92C1A96}"/>
              </a:ext>
            </a:extLst>
          </p:cNvPr>
          <p:cNvSpPr txBox="1"/>
          <p:nvPr/>
        </p:nvSpPr>
        <p:spPr>
          <a:xfrm>
            <a:off x="5633884" y="6331974"/>
            <a:ext cx="477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>
                <a:highlight>
                  <a:srgbClr val="FFFF00"/>
                </a:highlight>
              </a:rPr>
              <a:t>要用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ko-KR" dirty="0">
                <a:highlight>
                  <a:srgbClr val="FFFF00"/>
                </a:highlight>
              </a:rPr>
              <a:t>RMSE 10</a:t>
            </a:r>
            <a:r>
              <a:rPr kumimoji="1" lang="ko-KR" altLang="en-US" dirty="0" err="1">
                <a:highlight>
                  <a:srgbClr val="FFFF00"/>
                </a:highlight>
              </a:rPr>
              <a:t>左右</a:t>
            </a:r>
            <a:r>
              <a:rPr kumimoji="1" lang="zh-CN" altLang="en-US" dirty="0">
                <a:highlight>
                  <a:srgbClr val="FFFF00"/>
                </a:highlight>
              </a:rPr>
              <a:t>，</a:t>
            </a:r>
            <a:r>
              <a:rPr kumimoji="1" lang="en-US" altLang="zh-CN" dirty="0">
                <a:highlight>
                  <a:srgbClr val="FFFF00"/>
                </a:highlight>
              </a:rPr>
              <a:t>score</a:t>
            </a:r>
            <a:r>
              <a:rPr kumimoji="1" lang="zh-CN" altLang="en-US" dirty="0">
                <a:highlight>
                  <a:srgbClr val="FFFF00"/>
                </a:highlight>
              </a:rPr>
              <a:t>指标，</a:t>
            </a:r>
            <a:r>
              <a:rPr kumimoji="1" lang="en-US" altLang="zh-CN" dirty="0">
                <a:highlight>
                  <a:srgbClr val="FFFF00"/>
                </a:highlight>
              </a:rPr>
              <a:t>case study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8503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5701</TotalTime>
  <Words>118</Words>
  <Application>Microsoft Macintosh PowerPoint</Application>
  <PresentationFormat>와이드스크린</PresentationFormat>
  <Paragraphs>48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맑은 고딕</vt:lpstr>
      <vt:lpstr>Anthropic Mono</vt:lpstr>
      <vt:lpstr>Anthropic Sans</vt:lpstr>
      <vt:lpstr>Arial</vt:lpstr>
      <vt:lpstr>Cambria Math</vt:lpstr>
      <vt:lpstr>Helvetica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jjoring72@gmail.com</dc:creator>
  <cp:lastModifiedBy>jjoring72@gmail.com</cp:lastModifiedBy>
  <cp:revision>44</cp:revision>
  <dcterms:created xsi:type="dcterms:W3CDTF">2026-06-26T09:19:33Z</dcterms:created>
  <dcterms:modified xsi:type="dcterms:W3CDTF">2026-08-09T08:14:40Z</dcterms:modified>
</cp:coreProperties>
</file>